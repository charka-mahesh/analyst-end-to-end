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reepik.com/free-photos-vectors/purple-analytic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21.png"/><Relationship Id="rId1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C80064A-7276-BDE5-8401-3083160FA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10298"/>
            <a:ext cx="12192000" cy="684770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203F">
                  <a:alpha val="70000"/>
                </a:srgbClr>
              </a:gs>
              <a:gs pos="100000">
                <a:srgbClr val="00203F">
                  <a:alpha val="80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66732" y="2171936"/>
            <a:ext cx="6530481" cy="16187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4940"/>
              </a:lnSpc>
              <a:spcBef>
                <a:spcPts val="0"/>
              </a:spcBef>
              <a:spcAft>
                <a:spcPts val="1560"/>
              </a:spcAft>
            </a:pPr>
            <a:r>
              <a:rPr sz="6000" b="1" dirty="0">
                <a:solidFill>
                  <a:srgbClr val="FFFFFF"/>
                </a:solidFill>
              </a:rPr>
              <a:t>Customer Shopping </a:t>
            </a:r>
            <a:endParaRPr lang="en-US" sz="6000" b="1" dirty="0">
              <a:solidFill>
                <a:srgbClr val="FFFFFF"/>
              </a:solidFill>
            </a:endParaRPr>
          </a:p>
          <a:p>
            <a:pPr algn="l">
              <a:lnSpc>
                <a:spcPts val="4940"/>
              </a:lnSpc>
              <a:spcBef>
                <a:spcPts val="0"/>
              </a:spcBef>
              <a:spcAft>
                <a:spcPts val="1560"/>
              </a:spcAft>
            </a:pPr>
            <a:r>
              <a:rPr sz="6000" b="1" dirty="0">
                <a:solidFill>
                  <a:srgbClr val="FFFFFF"/>
                </a:solidFill>
              </a:rPr>
              <a:t>Behavior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3078" y="4193337"/>
            <a:ext cx="380822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0"/>
              </a:spcAft>
            </a:pPr>
            <a:r>
              <a:rPr sz="1600" b="0" dirty="0">
                <a:solidFill>
                  <a:srgbClr val="E0E0E0"/>
                </a:solidFill>
              </a:rPr>
              <a:t>Uncovering Insights from Transactional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5512" y="1581149"/>
            <a:ext cx="4019449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96007" y="1771650"/>
            <a:ext cx="3638459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4FC3F7"/>
                </a:solidFill>
              </a:rP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6007" y="2286000"/>
            <a:ext cx="36384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</a:rPr>
              <a:t>Purchases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512" y="2819399"/>
            <a:ext cx="4019449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6007" y="3009900"/>
            <a:ext cx="3638459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4FC3F7"/>
                </a:solidFill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6007" y="3505199"/>
            <a:ext cx="36384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</a:rPr>
              <a:t>Data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512" y="4038599"/>
            <a:ext cx="4019449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6007" y="4222423"/>
            <a:ext cx="2752100" cy="4419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152" b="1" dirty="0">
                <a:solidFill>
                  <a:srgbClr val="4FC3F7"/>
                </a:solidFill>
              </a:rPr>
              <a:t>Python </a:t>
            </a:r>
            <a:r>
              <a:rPr lang="en-US" sz="2152" b="1" dirty="0">
                <a:solidFill>
                  <a:srgbClr val="4FC3F7"/>
                </a:solidFill>
              </a:rPr>
              <a:t>,</a:t>
            </a:r>
            <a:r>
              <a:rPr sz="2152" b="1" dirty="0">
                <a:solidFill>
                  <a:srgbClr val="4FC3F7"/>
                </a:solidFill>
              </a:rPr>
              <a:t> SQL</a:t>
            </a:r>
            <a:r>
              <a:rPr lang="en-US" sz="2152" b="1" dirty="0">
                <a:solidFill>
                  <a:srgbClr val="4FC3F7"/>
                </a:solidFill>
              </a:rPr>
              <a:t> , </a:t>
            </a:r>
            <a:r>
              <a:rPr lang="en-US" sz="2152" b="1" dirty="0" err="1">
                <a:solidFill>
                  <a:srgbClr val="4FC3F7"/>
                </a:solidFill>
              </a:rPr>
              <a:t>PowerBi</a:t>
            </a:r>
            <a:endParaRPr sz="2152" b="1" dirty="0">
              <a:solidFill>
                <a:srgbClr val="4FC3F7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6007" y="4743450"/>
            <a:ext cx="36384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</a:rPr>
              <a:t>Analysis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2886002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238249"/>
            <a:ext cx="5143371" cy="609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263238"/>
                </a:solidFill>
              </a:rPr>
              <a:t>Analysis of customer shopping behavior using transactional data to guide strategic business decisions.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162174"/>
            <a:ext cx="228594" cy="17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8199" y="2020222"/>
            <a:ext cx="477190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63238"/>
                </a:solidFill>
              </a:rPr>
              <a:t> </a:t>
            </a:r>
            <a:r>
              <a:rPr sz="1196" b="1" dirty="0">
                <a:solidFill>
                  <a:srgbClr val="3949AB"/>
                </a:solidFill>
              </a:rPr>
              <a:t>Spending Patterns</a:t>
            </a:r>
            <a:r>
              <a:rPr sz="1196" b="0" dirty="0">
                <a:solidFill>
                  <a:srgbClr val="263238"/>
                </a:solidFill>
              </a:rPr>
              <a:t> - Analyze purchase amounts and frequency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843212"/>
            <a:ext cx="228594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199" y="2800350"/>
            <a:ext cx="461950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63238"/>
                </a:solidFill>
              </a:rPr>
              <a:t> </a:t>
            </a:r>
            <a:r>
              <a:rPr sz="1196" b="1">
                <a:solidFill>
                  <a:srgbClr val="3949AB"/>
                </a:solidFill>
              </a:rPr>
              <a:t>Customer Segments</a:t>
            </a:r>
            <a:r>
              <a:rPr sz="1196" b="0">
                <a:solidFill>
                  <a:srgbClr val="263238"/>
                </a:solidFill>
              </a:rPr>
              <a:t> - Identify distinct shopping behaviors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246120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8199" y="3228975"/>
            <a:ext cx="477190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63238"/>
                </a:solidFill>
              </a:rPr>
              <a:t> </a:t>
            </a:r>
            <a:r>
              <a:rPr sz="1196" b="1">
                <a:solidFill>
                  <a:srgbClr val="3949AB"/>
                </a:solidFill>
              </a:rPr>
              <a:t>Product Preferences</a:t>
            </a:r>
            <a:r>
              <a:rPr sz="1196" b="0">
                <a:solidFill>
                  <a:srgbClr val="263238"/>
                </a:solidFill>
              </a:rPr>
              <a:t> - Discover popular items and categories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391287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199" y="3895724"/>
            <a:ext cx="424804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63238"/>
                </a:solidFill>
              </a:rPr>
              <a:t> </a:t>
            </a:r>
            <a:r>
              <a:rPr sz="1196" b="1">
                <a:solidFill>
                  <a:srgbClr val="3949AB"/>
                </a:solidFill>
              </a:rPr>
              <a:t>Subscription Behavior</a:t>
            </a:r>
            <a:r>
              <a:rPr sz="1196" b="0">
                <a:solidFill>
                  <a:srgbClr val="263238"/>
                </a:solidFill>
              </a:rPr>
              <a:t> - Evaluate subscription impact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1589" y="821054"/>
            <a:ext cx="5143371" cy="5238749"/>
          </a:xfrm>
          <a:prstGeom prst="roundRect">
            <a:avLst>
              <a:gd name="adj" fmla="val 4444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7333" y="1590674"/>
            <a:ext cx="45718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870" b="1">
                <a:solidFill>
                  <a:srgbClr val="3949AB"/>
                </a:solidFill>
              </a:rPr>
              <a:t>3,900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3" y="2200275"/>
            <a:ext cx="45718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Purchases Analyzed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916" y="2800350"/>
            <a:ext cx="45718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870" b="1">
                <a:solidFill>
                  <a:srgbClr val="3949AB"/>
                </a:solidFill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916" y="3429000"/>
            <a:ext cx="45718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Data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916" y="4010026"/>
            <a:ext cx="45718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870" b="1" dirty="0">
                <a:solidFill>
                  <a:srgbClr val="3949AB"/>
                </a:solidFill>
              </a:rPr>
              <a:t>Various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916" y="4619625"/>
            <a:ext cx="45718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Product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299077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Dataset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2124075"/>
            <a:ext cx="2971725" cy="1085850"/>
          </a:xfrm>
          <a:prstGeom prst="roundRect">
            <a:avLst>
              <a:gd name="adj" fmla="val 21052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04852" y="2381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7723" y="2544535"/>
            <a:ext cx="285742" cy="244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33" y="2362199"/>
            <a:ext cx="17335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949AB"/>
                </a:solidFill>
              </a:rP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33" y="2752725"/>
            <a:ext cx="173350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400425"/>
            <a:ext cx="2971725" cy="1085850"/>
          </a:xfrm>
          <a:prstGeom prst="roundRect">
            <a:avLst>
              <a:gd name="adj" fmla="val 21052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4852" y="36576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3852959"/>
            <a:ext cx="285742" cy="1807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833" y="3638550"/>
            <a:ext cx="17335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949AB"/>
                </a:solidFill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33" y="4029075"/>
            <a:ext cx="173350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867274"/>
            <a:ext cx="2971725" cy="723900"/>
          </a:xfrm>
          <a:prstGeom prst="roundRect">
            <a:avLst>
              <a:gd name="adj" fmla="val 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70823" y="516318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27" y="5132069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6793" y="5010149"/>
            <a:ext cx="2181170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63238"/>
                </a:solidFill>
              </a:rPr>
              <a:t> </a:t>
            </a:r>
            <a:r>
              <a:rPr sz="1076" b="1">
                <a:solidFill>
                  <a:srgbClr val="F44336"/>
                </a:solidFill>
              </a:rPr>
              <a:t>37</a:t>
            </a:r>
            <a:r>
              <a:rPr sz="1076" b="0">
                <a:solidFill>
                  <a:srgbClr val="263238"/>
                </a:solidFill>
              </a:rPr>
              <a:t> missing values in Review Rating column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4201" y="1238249"/>
            <a:ext cx="760075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A237E"/>
                </a:solidFill>
              </a:rPr>
              <a:t>Key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24201" y="1724024"/>
            <a:ext cx="3705132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4697" y="1966912"/>
            <a:ext cx="228594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86162" y="1914525"/>
            <a:ext cx="200972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A237E"/>
                </a:solidFill>
              </a:rPr>
              <a:t>Customer Demographics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6162" y="2295525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162" y="2590799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Gender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6162" y="2886075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6162" y="3181350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Subscription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9829" y="1724024"/>
            <a:ext cx="3705132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0324" y="194119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81790" y="1914525"/>
            <a:ext cx="135251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A237E"/>
                </a:solidFill>
              </a:rPr>
              <a:t>Purchase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790" y="2295525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Item Purchased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790" y="2590799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790" y="2886075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Purchase Amount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790" y="3181350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Season, Size, Color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24201" y="4190999"/>
            <a:ext cx="3705132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4697" y="4419600"/>
            <a:ext cx="228594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86162" y="4381499"/>
            <a:ext cx="156206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A237E"/>
                </a:solidFill>
              </a:rPr>
              <a:t>Shopping 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6162" y="4762500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Discount Applied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6162" y="5067299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Promo Code Used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6162" y="5353049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Previous Purchases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6162" y="5657850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Frequency of Purchases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9829" y="4190999"/>
            <a:ext cx="3705132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0324" y="4408170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81790" y="4381499"/>
            <a:ext cx="159063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A237E"/>
                </a:solidFill>
              </a:rPr>
              <a:t>Additional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1790" y="4762500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Review Rating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1790" y="5067299"/>
            <a:ext cx="2952676" cy="21907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263238"/>
                </a:solidFill>
              </a:rPr>
              <a:t>Shipping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6562560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Exploratory Data Analysis using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220072"/>
            <a:ext cx="1724959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1A237E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1A237E"/>
                </a:solidFill>
              </a:rPr>
              <a:t> </a:t>
            </a:r>
            <a:r>
              <a:rPr lang="en-US" sz="1435" b="1" dirty="0">
                <a:solidFill>
                  <a:srgbClr val="1A237E"/>
                </a:solidFill>
              </a:rPr>
              <a:t>  </a:t>
            </a:r>
            <a:r>
              <a:rPr sz="1435" b="1" dirty="0">
                <a:solidFill>
                  <a:srgbClr val="1A237E"/>
                </a:solidFill>
              </a:rPr>
              <a:t>Data Preparation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294985"/>
            <a:ext cx="266693" cy="1913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6733" y="1676400"/>
            <a:ext cx="3047923" cy="74295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04" y="18192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1936936"/>
            <a:ext cx="190495" cy="1456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4892" y="1819275"/>
            <a:ext cx="226689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A237E"/>
                </a:solidFill>
              </a:rPr>
              <a:t>Data 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892" y="2085975"/>
            <a:ext cx="226689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Imported dataset using pandas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8003" y="1676400"/>
            <a:ext cx="3047923" cy="74295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00399" y="18192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647" y="1935536"/>
            <a:ext cx="190495" cy="1484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95687" y="1819275"/>
            <a:ext cx="226689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A237E"/>
                </a:solidFill>
              </a:rPr>
              <a:t>Initial 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87" y="2085975"/>
            <a:ext cx="226689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Used </a:t>
            </a:r>
            <a:r>
              <a:rPr sz="956" b="1">
                <a:solidFill>
                  <a:srgbClr val="3949AB"/>
                </a:solidFill>
              </a:rPr>
              <a:t>df.info()</a:t>
            </a:r>
            <a:r>
              <a:rPr sz="956" b="0">
                <a:solidFill>
                  <a:srgbClr val="455A64"/>
                </a:solidFill>
              </a:rPr>
              <a:t> and </a:t>
            </a:r>
            <a:r>
              <a:rPr sz="956" b="1">
                <a:solidFill>
                  <a:srgbClr val="3949AB"/>
                </a:solidFill>
              </a:rPr>
              <a:t>.describe()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562224"/>
            <a:ext cx="3047923" cy="933449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604" y="27050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2812956"/>
            <a:ext cx="190495" cy="1652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04892" y="2705099"/>
            <a:ext cx="226689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A237E"/>
                </a:solidFill>
              </a:rPr>
              <a:t>Missing Data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4892" y="2971800"/>
            <a:ext cx="226689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Imputed missing values in Review Rating column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8003" y="2562224"/>
            <a:ext cx="3047923" cy="933449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000399" y="27050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5647" y="2829765"/>
            <a:ext cx="190495" cy="13166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95687" y="2705099"/>
            <a:ext cx="226689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A237E"/>
                </a:solidFill>
              </a:rPr>
              <a:t>Column Standardization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687" y="2971800"/>
            <a:ext cx="226689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Renamed columns to snake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33" y="3715622"/>
            <a:ext cx="2180533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1A237E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1A237E"/>
                </a:solidFill>
              </a:rPr>
              <a:t> </a:t>
            </a:r>
            <a:r>
              <a:rPr lang="en-US" sz="1435" b="1" dirty="0">
                <a:solidFill>
                  <a:srgbClr val="1A237E"/>
                </a:solidFill>
              </a:rPr>
              <a:t> </a:t>
            </a:r>
            <a:r>
              <a:rPr sz="1435" b="1" dirty="0">
                <a:solidFill>
                  <a:srgbClr val="1A237E"/>
                </a:solidFill>
              </a:rPr>
              <a:t>Data Consistency Check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733" y="3790535"/>
            <a:ext cx="266693" cy="19132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66733" y="4171950"/>
            <a:ext cx="6229194" cy="933449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9604" y="43148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4852" y="4443692"/>
            <a:ext cx="190495" cy="1232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04892" y="4314825"/>
            <a:ext cx="544816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A237E"/>
                </a:solidFill>
              </a:rPr>
              <a:t>Redundancy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4892" y="4581524"/>
            <a:ext cx="544816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Verified if </a:t>
            </a:r>
            <a:r>
              <a:rPr sz="956" b="1">
                <a:solidFill>
                  <a:srgbClr val="3949AB"/>
                </a:solidFill>
              </a:rPr>
              <a:t>discount_applied</a:t>
            </a:r>
            <a:r>
              <a:rPr sz="956" b="0">
                <a:solidFill>
                  <a:srgbClr val="455A64"/>
                </a:solidFill>
              </a:rPr>
              <a:t> and </a:t>
            </a:r>
            <a:r>
              <a:rPr sz="956" b="1">
                <a:solidFill>
                  <a:srgbClr val="3949AB"/>
                </a:solidFill>
              </a:rPr>
              <a:t>promo_code_used</a:t>
            </a:r>
            <a:r>
              <a:rPr sz="956" b="0">
                <a:solidFill>
                  <a:srgbClr val="455A64"/>
                </a:solidFill>
              </a:rPr>
              <a:t> were redundant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4892" y="4772025"/>
            <a:ext cx="544816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Dropped </a:t>
            </a:r>
            <a:r>
              <a:rPr sz="956" b="1">
                <a:solidFill>
                  <a:srgbClr val="3949AB"/>
                </a:solidFill>
              </a:rPr>
              <a:t>promo_code_used</a:t>
            </a:r>
            <a:r>
              <a:rPr sz="956" b="0">
                <a:solidFill>
                  <a:srgbClr val="455A64"/>
                </a:solidFill>
              </a:rPr>
              <a:t> column to eliminate redundancy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67413" y="1238249"/>
            <a:ext cx="4057548" cy="2171700"/>
          </a:xfrm>
          <a:prstGeom prst="roundRect">
            <a:avLst>
              <a:gd name="adj" fmla="val 10526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57908" y="1400400"/>
            <a:ext cx="1659365" cy="29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 dirty="0">
                <a:solidFill>
                  <a:srgbClr val="1A237E"/>
                </a:solidFill>
              </a:rPr>
              <a:t> </a:t>
            </a:r>
            <a:r>
              <a:rPr sz="1104" dirty="0"/>
              <a:t>  </a:t>
            </a:r>
            <a:r>
              <a:rPr sz="1196" b="1" dirty="0">
                <a:solidFill>
                  <a:srgbClr val="1A237E"/>
                </a:solidFill>
              </a:rPr>
              <a:t> </a:t>
            </a:r>
            <a:r>
              <a:rPr lang="en-US" sz="1196" b="1" dirty="0">
                <a:solidFill>
                  <a:srgbClr val="1A237E"/>
                </a:solidFill>
              </a:rPr>
              <a:t>  </a:t>
            </a:r>
            <a:r>
              <a:rPr sz="1196" b="1" dirty="0">
                <a:solidFill>
                  <a:srgbClr val="1A237E"/>
                </a:solidFill>
              </a:rPr>
              <a:t>Feature Engineering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57908" y="1440179"/>
            <a:ext cx="228594" cy="20573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657908" y="1809749"/>
            <a:ext cx="3676558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00779" y="2052917"/>
            <a:ext cx="190495" cy="1232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86522" y="1924049"/>
            <a:ext cx="3105072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63238"/>
                </a:solidFill>
              </a:rPr>
              <a:t> Created </a:t>
            </a:r>
            <a:r>
              <a:rPr sz="956" b="1">
                <a:solidFill>
                  <a:srgbClr val="3949AB"/>
                </a:solidFill>
              </a:rPr>
              <a:t>age_group</a:t>
            </a:r>
            <a:r>
              <a:rPr sz="956" b="0">
                <a:solidFill>
                  <a:srgbClr val="263238"/>
                </a:solidFill>
              </a:rPr>
              <a:t> column by binning customer ages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57908" y="2514600"/>
            <a:ext cx="3676558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00779" y="273815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86522" y="2628900"/>
            <a:ext cx="3105072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63238"/>
                </a:solidFill>
              </a:rPr>
              <a:t> Created </a:t>
            </a:r>
            <a:r>
              <a:rPr sz="956" b="1">
                <a:solidFill>
                  <a:srgbClr val="3949AB"/>
                </a:solidFill>
              </a:rPr>
              <a:t>purchase_frequency_days</a:t>
            </a:r>
            <a:r>
              <a:rPr sz="956" b="0">
                <a:solidFill>
                  <a:srgbClr val="263238"/>
                </a:solidFill>
              </a:rPr>
              <a:t> column from purchase data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67413" y="3600450"/>
            <a:ext cx="4057548" cy="2623369"/>
          </a:xfrm>
          <a:prstGeom prst="roundRect">
            <a:avLst>
              <a:gd name="adj" fmla="val 7947"/>
            </a:avLst>
          </a:prstGeom>
          <a:gradFill rotWithShape="1">
            <a:gsLst>
              <a:gs pos="0">
                <a:srgbClr val="3949AB"/>
              </a:gs>
              <a:gs pos="100000">
                <a:srgbClr val="1A237E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05532" y="3815342"/>
            <a:ext cx="1828449" cy="3131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 dirty="0">
                <a:solidFill>
                  <a:srgbClr val="FFFFFF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FFFFFF"/>
                </a:solidFill>
              </a:rPr>
              <a:t> </a:t>
            </a:r>
            <a:r>
              <a:rPr lang="en-US" sz="1315" b="1" dirty="0">
                <a:solidFill>
                  <a:srgbClr val="FFFFFF"/>
                </a:solidFill>
              </a:rPr>
              <a:t> </a:t>
            </a:r>
            <a:r>
              <a:rPr sz="1315" b="1" dirty="0">
                <a:solidFill>
                  <a:srgbClr val="FFFFFF"/>
                </a:solidFill>
              </a:rPr>
              <a:t>Database Integration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705532" y="3882655"/>
            <a:ext cx="247643" cy="17853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589082" y="4242653"/>
            <a:ext cx="2975623" cy="25789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 dirty="0">
                <a:solidFill>
                  <a:srgbClr val="FFFFFF"/>
                </a:solidFill>
              </a:rPr>
              <a:t> </a:t>
            </a:r>
            <a:r>
              <a:rPr sz="956" b="1" dirty="0">
                <a:solidFill>
                  <a:srgbClr val="FFFFFF"/>
                </a:solidFill>
              </a:rPr>
              <a:t>1</a:t>
            </a:r>
            <a:r>
              <a:rPr sz="956" b="0" dirty="0">
                <a:solidFill>
                  <a:srgbClr val="FFFFFF"/>
                </a:solidFill>
              </a:rPr>
              <a:t> </a:t>
            </a:r>
            <a:r>
              <a:rPr lang="en-US" sz="956" b="0" dirty="0">
                <a:solidFill>
                  <a:srgbClr val="FFFFFF"/>
                </a:solidFill>
              </a:rPr>
              <a:t>      </a:t>
            </a:r>
            <a:r>
              <a:rPr sz="956" b="0" dirty="0">
                <a:solidFill>
                  <a:srgbClr val="FFFFFF"/>
                </a:solidFill>
              </a:rPr>
              <a:t>Connected Python script to PostgreSQL database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05532" y="42481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10284" y="4662129"/>
            <a:ext cx="2610138" cy="25789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 dirty="0">
                <a:solidFill>
                  <a:srgbClr val="FFFFFF"/>
                </a:solidFill>
              </a:rPr>
              <a:t> </a:t>
            </a:r>
            <a:r>
              <a:rPr sz="956" b="1" dirty="0">
                <a:solidFill>
                  <a:srgbClr val="FFFFFF"/>
                </a:solidFill>
              </a:rPr>
              <a:t>2</a:t>
            </a:r>
            <a:r>
              <a:rPr sz="956" b="0" dirty="0">
                <a:solidFill>
                  <a:srgbClr val="FFFFFF"/>
                </a:solidFill>
              </a:rPr>
              <a:t> </a:t>
            </a:r>
            <a:r>
              <a:rPr lang="en-US" sz="956" b="0" dirty="0">
                <a:solidFill>
                  <a:srgbClr val="FFFFFF"/>
                </a:solidFill>
              </a:rPr>
              <a:t>     </a:t>
            </a:r>
            <a:r>
              <a:rPr sz="956" b="0" dirty="0">
                <a:solidFill>
                  <a:srgbClr val="FFFFFF"/>
                </a:solidFill>
              </a:rPr>
              <a:t>Loaded cleaned </a:t>
            </a:r>
            <a:r>
              <a:rPr sz="956" b="0" dirty="0" err="1">
                <a:solidFill>
                  <a:srgbClr val="FFFFFF"/>
                </a:solidFill>
              </a:rPr>
              <a:t>DataFrame</a:t>
            </a:r>
            <a:r>
              <a:rPr sz="956" b="0" dirty="0">
                <a:solidFill>
                  <a:srgbClr val="FFFFFF"/>
                </a:solidFill>
              </a:rPr>
              <a:t> into database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05532" y="465772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082" y="5071702"/>
            <a:ext cx="3581310" cy="257891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 dirty="0">
                <a:solidFill>
                  <a:srgbClr val="FFFFFF"/>
                </a:solidFill>
              </a:rPr>
              <a:t> </a:t>
            </a:r>
            <a:r>
              <a:rPr sz="956" b="1" dirty="0">
                <a:solidFill>
                  <a:srgbClr val="FFFFFF"/>
                </a:solidFill>
              </a:rPr>
              <a:t>3</a:t>
            </a:r>
            <a:r>
              <a:rPr sz="956" b="0" dirty="0">
                <a:solidFill>
                  <a:srgbClr val="FFFFFF"/>
                </a:solidFill>
              </a:rPr>
              <a:t> </a:t>
            </a:r>
            <a:r>
              <a:rPr lang="en-US" sz="956" b="0" dirty="0">
                <a:solidFill>
                  <a:srgbClr val="FFFFFF"/>
                </a:solidFill>
              </a:rPr>
              <a:t>      </a:t>
            </a:r>
            <a:r>
              <a:rPr sz="956" b="0" dirty="0">
                <a:solidFill>
                  <a:srgbClr val="FFFFFF"/>
                </a:solidFill>
              </a:rPr>
              <a:t>Prepared data for SQL analysis and business insights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05532" y="50672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0"/>
            <a:ext cx="397182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Data Analysis using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485" y="448596"/>
            <a:ext cx="1085822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Key Business Questions Analyzed in PostgreSQL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485" y="743870"/>
            <a:ext cx="5333866" cy="1076325"/>
          </a:xfrm>
          <a:prstGeom prst="roundRect">
            <a:avLst>
              <a:gd name="adj" fmla="val 212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1980" y="934371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6752" y="1059438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1090" y="906021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Revenue by Gender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1090" y="1215000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Compared total revenue generated by </a:t>
            </a:r>
            <a:r>
              <a:rPr sz="956" b="1">
                <a:solidFill>
                  <a:srgbClr val="3949AB"/>
                </a:solidFill>
              </a:rPr>
              <a:t>male vs. female</a:t>
            </a:r>
            <a:r>
              <a:rPr sz="956" b="0">
                <a:solidFill>
                  <a:srgbClr val="455A64"/>
                </a:solidFill>
              </a:rPr>
              <a:t>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743870"/>
            <a:ext cx="5333866" cy="1076325"/>
          </a:xfrm>
          <a:prstGeom prst="roundRect">
            <a:avLst>
              <a:gd name="adj" fmla="val 212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86342" y="934371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114" y="1059438"/>
            <a:ext cx="266693" cy="226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5451" y="906021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High-Spending Discount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5451" y="1310250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Identified customers who used discounts but still spent </a:t>
            </a:r>
            <a:r>
              <a:rPr sz="956" b="1">
                <a:solidFill>
                  <a:srgbClr val="3949AB"/>
                </a:solidFill>
              </a:rPr>
              <a:t>above average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485" y="2010695"/>
            <a:ext cx="5333866" cy="1076325"/>
          </a:xfrm>
          <a:prstGeom prst="roundRect">
            <a:avLst>
              <a:gd name="adj" fmla="val 212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1980" y="2201196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52" y="2330611"/>
            <a:ext cx="266693" cy="2174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81090" y="2172846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Top 5 Products by 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090" y="2481825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Found products with the </a:t>
            </a:r>
            <a:r>
              <a:rPr sz="956" b="1">
                <a:solidFill>
                  <a:srgbClr val="3949AB"/>
                </a:solidFill>
              </a:rPr>
              <a:t>highest average</a:t>
            </a:r>
            <a:r>
              <a:rPr sz="956" b="0">
                <a:solidFill>
                  <a:srgbClr val="455A64"/>
                </a:solidFill>
              </a:rPr>
              <a:t> review ratings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7" y="2010695"/>
            <a:ext cx="5333866" cy="1076325"/>
          </a:xfrm>
          <a:prstGeom prst="roundRect">
            <a:avLst>
              <a:gd name="adj" fmla="val 212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86342" y="2201196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1114" y="2343656"/>
            <a:ext cx="266693" cy="19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05451" y="2172846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Shipping Type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5451" y="2577075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Compared average purchase amounts between </a:t>
            </a:r>
            <a:r>
              <a:rPr sz="956" b="1">
                <a:solidFill>
                  <a:srgbClr val="3949AB"/>
                </a:solidFill>
              </a:rPr>
              <a:t>Standard and Express</a:t>
            </a:r>
            <a:r>
              <a:rPr sz="956" b="0">
                <a:solidFill>
                  <a:srgbClr val="455A64"/>
                </a:solidFill>
              </a:rPr>
              <a:t> shipping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485" y="3277521"/>
            <a:ext cx="5333866" cy="1076325"/>
          </a:xfrm>
          <a:prstGeom prst="roundRect">
            <a:avLst>
              <a:gd name="adj" fmla="val 212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1980" y="3468021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752" y="3593088"/>
            <a:ext cx="266693" cy="2261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81090" y="3439671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Subscribers vs. Non-Subscribers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090" y="3843900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Compared average spend and total revenue across </a:t>
            </a:r>
            <a:r>
              <a:rPr sz="956" b="1">
                <a:solidFill>
                  <a:srgbClr val="3949AB"/>
                </a:solidFill>
              </a:rPr>
              <a:t>subscription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7" y="3277521"/>
            <a:ext cx="5333866" cy="1076325"/>
          </a:xfrm>
          <a:prstGeom prst="roundRect">
            <a:avLst>
              <a:gd name="adj" fmla="val 212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86342" y="3468021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1114" y="3577144"/>
            <a:ext cx="266693" cy="25800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05451" y="3439671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Discount-Dependent Products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5451" y="3843900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Identified 5 products with the </a:t>
            </a:r>
            <a:r>
              <a:rPr sz="956" b="1">
                <a:solidFill>
                  <a:srgbClr val="3949AB"/>
                </a:solidFill>
              </a:rPr>
              <a:t>highest percentage</a:t>
            </a:r>
            <a:r>
              <a:rPr sz="956" b="0">
                <a:solidFill>
                  <a:srgbClr val="455A64"/>
                </a:solidFill>
              </a:rPr>
              <a:t> of discounted purchases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485" y="4544345"/>
            <a:ext cx="5333866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61980" y="4734846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6752" y="4888902"/>
            <a:ext cx="266693" cy="1681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81090" y="4706496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Customer Segmentation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1090" y="5015475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Classified customers into </a:t>
            </a:r>
            <a:r>
              <a:rPr sz="956" b="1">
                <a:solidFill>
                  <a:srgbClr val="3949AB"/>
                </a:solidFill>
              </a:rPr>
              <a:t>New, Returning, and Loyal</a:t>
            </a:r>
            <a:r>
              <a:rPr sz="956" b="0">
                <a:solidFill>
                  <a:srgbClr val="455A64"/>
                </a:solidFill>
              </a:rPr>
              <a:t> segments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5847" y="4544345"/>
            <a:ext cx="5333866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286342" y="4734846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91114" y="4859913"/>
            <a:ext cx="266693" cy="22611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905451" y="4706496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Top 3 Products per Category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5451" y="5015475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Listed the </a:t>
            </a:r>
            <a:r>
              <a:rPr sz="956" b="1">
                <a:solidFill>
                  <a:srgbClr val="3949AB"/>
                </a:solidFill>
              </a:rPr>
              <a:t>most purchased</a:t>
            </a:r>
            <a:r>
              <a:rPr sz="956" b="0">
                <a:solidFill>
                  <a:srgbClr val="455A64"/>
                </a:solidFill>
              </a:rPr>
              <a:t> products within each category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1485" y="5620671"/>
            <a:ext cx="5333866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61980" y="5811171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6752" y="5936238"/>
            <a:ext cx="266693" cy="22611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81090" y="5782821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Repeat Buyers &amp; Subscriptions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1090" y="6091800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Checked if customers with </a:t>
            </a:r>
            <a:r>
              <a:rPr sz="956" b="1">
                <a:solidFill>
                  <a:srgbClr val="3949AB"/>
                </a:solidFill>
              </a:rPr>
              <a:t>&gt;5 purchases</a:t>
            </a:r>
            <a:r>
              <a:rPr sz="956" b="0">
                <a:solidFill>
                  <a:srgbClr val="455A64"/>
                </a:solidFill>
              </a:rPr>
              <a:t> are more likely to subscribe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95847" y="5620671"/>
            <a:ext cx="5333866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286342" y="5811171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91114" y="5936238"/>
            <a:ext cx="266693" cy="22611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05451" y="5782821"/>
            <a:ext cx="433376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A237E"/>
                </a:solidFill>
              </a:rPr>
              <a:t>Revenue by Age Group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5451" y="6091800"/>
            <a:ext cx="433376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</a:rPr>
              <a:t>Calculated total revenue contribution of each </a:t>
            </a:r>
            <a:r>
              <a:rPr sz="956" b="1">
                <a:solidFill>
                  <a:srgbClr val="3949AB"/>
                </a:solidFill>
              </a:rPr>
              <a:t>age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379085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Dashboard in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238249"/>
            <a:ext cx="5143371" cy="609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263238"/>
                </a:solidFill>
              </a:rPr>
              <a:t>Built an interactive dashboard in Power BI to present insights visually from the customer shopping behavior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133599"/>
            <a:ext cx="514337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A237E"/>
                </a:solidFill>
              </a:rPr>
              <a:t> Key Visualizations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185987"/>
            <a:ext cx="266693" cy="2000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2571750"/>
            <a:ext cx="2505012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9604" y="27146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2823882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04892" y="2714625"/>
            <a:ext cx="1723981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63238"/>
                </a:solidFill>
              </a:rPr>
              <a:t> </a:t>
            </a:r>
            <a:r>
              <a:rPr sz="1076" b="1">
                <a:solidFill>
                  <a:srgbClr val="3949AB"/>
                </a:solidFill>
              </a:rPr>
              <a:t>Revenue</a:t>
            </a:r>
            <a:r>
              <a:rPr sz="1076" b="0">
                <a:solidFill>
                  <a:srgbClr val="263238"/>
                </a:solidFill>
              </a:rPr>
              <a:t> by demographic segments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617" y="2571750"/>
            <a:ext cx="2505012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47963" y="27146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211" y="2843492"/>
            <a:ext cx="190495" cy="123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43251" y="2714625"/>
            <a:ext cx="1723981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63238"/>
                </a:solidFill>
              </a:rPr>
              <a:t> </a:t>
            </a:r>
            <a:r>
              <a:rPr sz="1076" b="1">
                <a:solidFill>
                  <a:srgbClr val="3949AB"/>
                </a:solidFill>
              </a:rPr>
              <a:t>Purchase patterns</a:t>
            </a:r>
            <a:r>
              <a:rPr sz="1076" b="0">
                <a:solidFill>
                  <a:srgbClr val="263238"/>
                </a:solidFill>
              </a:rPr>
              <a:t> by season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438525"/>
            <a:ext cx="2505012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604" y="35814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369065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04892" y="3581400"/>
            <a:ext cx="1723981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63238"/>
                </a:solidFill>
              </a:rPr>
              <a:t> </a:t>
            </a:r>
            <a:r>
              <a:rPr sz="1076" b="1">
                <a:solidFill>
                  <a:srgbClr val="3949AB"/>
                </a:solidFill>
              </a:rPr>
              <a:t>Product performance</a:t>
            </a:r>
            <a:r>
              <a:rPr sz="1076" b="0">
                <a:solidFill>
                  <a:srgbClr val="263238"/>
                </a:solidFill>
              </a:rPr>
              <a:t> metrics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4617" y="3438525"/>
            <a:ext cx="2505012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47963" y="35814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3211" y="3710267"/>
            <a:ext cx="190495" cy="1232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43251" y="3581400"/>
            <a:ext cx="1723981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63238"/>
                </a:solidFill>
              </a:rPr>
              <a:t> </a:t>
            </a:r>
            <a:r>
              <a:rPr sz="1076" b="1">
                <a:solidFill>
                  <a:srgbClr val="3949AB"/>
                </a:solidFill>
              </a:rPr>
              <a:t>Customer segments</a:t>
            </a:r>
            <a:r>
              <a:rPr sz="1076" b="0">
                <a:solidFill>
                  <a:srgbClr val="263238"/>
                </a:solidFill>
              </a:rPr>
              <a:t> analysis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33" y="4448175"/>
            <a:ext cx="514337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A237E"/>
                </a:solidFill>
              </a:rPr>
              <a:t> Interactive Features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545" y="4457700"/>
            <a:ext cx="219069" cy="26669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66733" y="4886325"/>
            <a:ext cx="2505012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9604" y="50292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4852" y="5166472"/>
            <a:ext cx="190495" cy="10645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04892" y="5029200"/>
            <a:ext cx="1723981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63238"/>
                </a:solidFill>
              </a:rPr>
              <a:t> </a:t>
            </a:r>
            <a:r>
              <a:rPr sz="1076" b="1">
                <a:solidFill>
                  <a:srgbClr val="3949AB"/>
                </a:solidFill>
              </a:rPr>
              <a:t>Dynamic filtering</a:t>
            </a:r>
            <a:r>
              <a:rPr sz="1076" b="0">
                <a:solidFill>
                  <a:srgbClr val="263238"/>
                </a:solidFill>
              </a:rPr>
              <a:t> by multiple criteria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4617" y="4886325"/>
            <a:ext cx="2505012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447963" y="50292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43211" y="51384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43251" y="5029200"/>
            <a:ext cx="1723981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63238"/>
                </a:solidFill>
              </a:rPr>
              <a:t> </a:t>
            </a:r>
            <a:r>
              <a:rPr sz="1076" b="1">
                <a:solidFill>
                  <a:srgbClr val="3949AB"/>
                </a:solidFill>
              </a:rPr>
              <a:t>Time-based</a:t>
            </a:r>
            <a:r>
              <a:rPr sz="1076" b="0">
                <a:solidFill>
                  <a:srgbClr val="263238"/>
                </a:solidFill>
              </a:rPr>
              <a:t> analysis controls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32" y="5910722"/>
            <a:ext cx="5143371" cy="85725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3949AB"/>
              </a:gs>
              <a:gs pos="100000">
                <a:srgbClr val="1A237E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04852" y="6124574"/>
            <a:ext cx="342891" cy="28969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42991" y="6038850"/>
            <a:ext cx="4276618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Interactive dashboard enables stakeholders to explore data independently and make data-driven decisions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38737" y="857248"/>
            <a:ext cx="5143371" cy="57054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29212" y="864984"/>
            <a:ext cx="5143371" cy="523874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83951" y="1083454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57759" y="1052974"/>
            <a:ext cx="240023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FFFFFF"/>
                </a:solidFill>
              </a:rPr>
              <a:t>Customer Shopping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951" y="1607328"/>
            <a:ext cx="2314517" cy="2333624"/>
          </a:xfrm>
          <a:prstGeom prst="roundRect">
            <a:avLst>
              <a:gd name="adj" fmla="val 658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08075" y="2284027"/>
            <a:ext cx="342891" cy="28969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105470" y="2757513"/>
            <a:ext cx="126679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956" b="1" dirty="0">
                <a:solidFill>
                  <a:srgbClr val="1A237E"/>
                </a:solidFill>
              </a:rPr>
              <a:t>Revenue by Gender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4479" y="3078967"/>
            <a:ext cx="2028774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455A64"/>
                </a:solidFill>
              </a:rPr>
              <a:t>Comparative analysis of spending patterns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10422" y="1571627"/>
            <a:ext cx="2314517" cy="2333624"/>
          </a:xfrm>
          <a:prstGeom prst="roundRect">
            <a:avLst>
              <a:gd name="adj" fmla="val 658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996234" y="2311141"/>
            <a:ext cx="342891" cy="23024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276880" y="2771775"/>
            <a:ext cx="166683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956" b="1" dirty="0">
                <a:solidFill>
                  <a:srgbClr val="1A237E"/>
                </a:solidFill>
              </a:rPr>
              <a:t>Top Products by Category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15213" y="3154157"/>
            <a:ext cx="1704932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455A64"/>
                </a:solidFill>
              </a:rPr>
              <a:t>Best-selling items per segment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33993" y="4085025"/>
            <a:ext cx="2314517" cy="2333624"/>
          </a:xfrm>
          <a:prstGeom prst="roundRect">
            <a:avLst>
              <a:gd name="adj" fmla="val 658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67420" y="4743449"/>
            <a:ext cx="342891" cy="21283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85849" y="5177677"/>
            <a:ext cx="131441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956" b="1" dirty="0">
                <a:solidFill>
                  <a:srgbClr val="1A237E"/>
                </a:solidFill>
              </a:rPr>
              <a:t>Customer Segments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7391" y="5524499"/>
            <a:ext cx="2028774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455A64"/>
                </a:solidFill>
              </a:rPr>
              <a:t>New, Returning, and Loyal customers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04819" y="4034913"/>
            <a:ext cx="2314517" cy="2333624"/>
          </a:xfrm>
          <a:prstGeom prst="roundRect">
            <a:avLst>
              <a:gd name="adj" fmla="val 658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010524" y="4780706"/>
            <a:ext cx="342891" cy="18327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632633" y="5187437"/>
            <a:ext cx="13239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956" b="1" dirty="0">
                <a:solidFill>
                  <a:srgbClr val="1A237E"/>
                </a:solidFill>
              </a:rPr>
              <a:t>Purchase Frequency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6899" y="5610225"/>
            <a:ext cx="169540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455A64"/>
                </a:solidFill>
              </a:rPr>
              <a:t>Time-based shopping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4686182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5314817" cy="13430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633171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33" y="1476375"/>
            <a:ext cx="40765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1A237E"/>
                </a:solidFill>
              </a:rPr>
              <a:t>Boost Subscriptions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33" y="1838324"/>
            <a:ext cx="4076598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 Promote </a:t>
            </a:r>
            <a:r>
              <a:rPr sz="1076" b="1">
                <a:solidFill>
                  <a:srgbClr val="3949AB"/>
                </a:solidFill>
              </a:rPr>
              <a:t>exclusive benefits</a:t>
            </a:r>
            <a:r>
              <a:rPr sz="1076" b="0">
                <a:solidFill>
                  <a:srgbClr val="455A64"/>
                </a:solidFill>
              </a:rPr>
              <a:t> for subscribers to increase conversion rates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4" y="1238249"/>
            <a:ext cx="5314817" cy="13430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57788" y="1476375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1644894"/>
            <a:ext cx="304792" cy="234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9769" y="1476375"/>
            <a:ext cx="40765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1A237E"/>
                </a:solidFill>
              </a:rPr>
              <a:t>Customer Loyalty Programs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9769" y="1838324"/>
            <a:ext cx="4076598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 Reward </a:t>
            </a:r>
            <a:r>
              <a:rPr sz="1076" b="1">
                <a:solidFill>
                  <a:srgbClr val="3949AB"/>
                </a:solidFill>
              </a:rPr>
              <a:t>repeat buyers</a:t>
            </a:r>
            <a:r>
              <a:rPr sz="1076" b="0">
                <a:solidFill>
                  <a:srgbClr val="455A64"/>
                </a:solidFill>
              </a:rPr>
              <a:t> to move them into the "Loyal" segment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2819399"/>
            <a:ext cx="5314817" cy="13430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4852" y="3057525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199" y="3214321"/>
            <a:ext cx="304792" cy="2579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33" y="3057525"/>
            <a:ext cx="40765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1A237E"/>
                </a:solidFill>
              </a:rPr>
              <a:t>Review Discount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33" y="3419474"/>
            <a:ext cx="4076598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 Balance </a:t>
            </a:r>
            <a:r>
              <a:rPr sz="1076" b="1">
                <a:solidFill>
                  <a:srgbClr val="3949AB"/>
                </a:solidFill>
              </a:rPr>
              <a:t>sales boosts</a:t>
            </a:r>
            <a:r>
              <a:rPr sz="1076" b="0">
                <a:solidFill>
                  <a:srgbClr val="455A64"/>
                </a:solidFill>
              </a:rPr>
              <a:t> with margin control to optimize profitability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4" y="2819399"/>
            <a:ext cx="5314817" cy="13430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57788" y="3057525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35" y="3261213"/>
            <a:ext cx="304792" cy="1641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19769" y="3057525"/>
            <a:ext cx="40765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1A237E"/>
                </a:solidFill>
              </a:rPr>
              <a:t>Product Positioning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9769" y="3419474"/>
            <a:ext cx="4076598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 Highlight </a:t>
            </a:r>
            <a:r>
              <a:rPr sz="1076" b="1">
                <a:solidFill>
                  <a:srgbClr val="3949AB"/>
                </a:solidFill>
              </a:rPr>
              <a:t>top-rated</a:t>
            </a:r>
            <a:r>
              <a:rPr sz="1076" b="0">
                <a:solidFill>
                  <a:srgbClr val="455A64"/>
                </a:solidFill>
              </a:rPr>
              <a:t> and best-selling products in campaigns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410074"/>
            <a:ext cx="10858228" cy="110490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4852" y="4648200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8199" y="4812323"/>
            <a:ext cx="304792" cy="2432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66833" y="4648200"/>
            <a:ext cx="96200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1A237E"/>
                </a:solidFill>
              </a:rPr>
              <a:t>Targeted Marketing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33" y="5010149"/>
            <a:ext cx="962000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55A64"/>
                </a:solidFill>
              </a:rPr>
              <a:t> Focus efforts on </a:t>
            </a:r>
            <a:r>
              <a:rPr sz="1076" b="1">
                <a:solidFill>
                  <a:srgbClr val="3949AB"/>
                </a:solidFill>
              </a:rPr>
              <a:t>high-revenue age groups</a:t>
            </a:r>
            <a:r>
              <a:rPr sz="1076" b="0">
                <a:solidFill>
                  <a:srgbClr val="455A64"/>
                </a:solidFill>
              </a:rPr>
              <a:t> and express-shipping users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5753099"/>
            <a:ext cx="10858228" cy="723900"/>
          </a:xfrm>
          <a:prstGeom prst="roundRect">
            <a:avLst>
              <a:gd name="adj" fmla="val 31578"/>
            </a:avLst>
          </a:prstGeom>
          <a:gradFill rotWithShape="1">
            <a:gsLst>
              <a:gs pos="0">
                <a:srgbClr val="3949AB"/>
              </a:gs>
              <a:gs pos="100000">
                <a:srgbClr val="1A237E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4852" y="5970204"/>
            <a:ext cx="342891" cy="28969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38239" y="5981699"/>
            <a:ext cx="819129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These strategic actions are based on data-driven insights from the customer shopping behavior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203F">
                  <a:alpha val="75000"/>
                </a:srgbClr>
              </a:gs>
              <a:gs pos="100000">
                <a:srgbClr val="00203F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59281" y="3244465"/>
            <a:ext cx="3875351" cy="94179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54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2587" y="6227103"/>
            <a:ext cx="1173655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E0E0E0"/>
                </a:solidFill>
              </a:rPr>
              <a:t> </a:t>
            </a:r>
            <a:r>
              <a:rPr sz="1104" dirty="0"/>
              <a:t>  </a:t>
            </a:r>
            <a:r>
              <a:rPr sz="1076" b="0" dirty="0">
                <a:solidFill>
                  <a:srgbClr val="E0E0E0"/>
                </a:solidFill>
              </a:rPr>
              <a:t> C</a:t>
            </a:r>
            <a:r>
              <a:rPr lang="en-US" sz="1076" b="0" dirty="0">
                <a:solidFill>
                  <a:srgbClr val="E0E0E0"/>
                </a:solidFill>
              </a:rPr>
              <a:t>harka Mahesh</a:t>
            </a:r>
            <a:r>
              <a:rPr sz="1076" b="0" dirty="0">
                <a:solidFill>
                  <a:srgbClr val="E0E0E0"/>
                </a:solidFill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7339" y="6292663"/>
            <a:ext cx="190495" cy="1400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581</Words>
  <Application>Microsoft Office PowerPoint</Application>
  <PresentationFormat>Widescreen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Mahesh Mahi</cp:lastModifiedBy>
  <cp:revision>2</cp:revision>
  <dcterms:created xsi:type="dcterms:W3CDTF">2013-01-27T09:14:16Z</dcterms:created>
  <dcterms:modified xsi:type="dcterms:W3CDTF">2025-11-27T07:48:39Z</dcterms:modified>
  <cp:category/>
</cp:coreProperties>
</file>